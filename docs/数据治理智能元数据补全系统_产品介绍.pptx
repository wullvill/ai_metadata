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1968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601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0064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2208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0625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6016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4112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06256" y="658368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54112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22208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06256" y="1042416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1968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6016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54112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22208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1426464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6016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0064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22208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06256" y="1810512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AI-POWERED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数据治理智能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元数据补全系统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45720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驱动 · LLM 赋能 · 高效治理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2026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智能补全 · 质量保障 · 双向同步 · 高效审核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6093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现状痛点与建设契机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16093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五大核心目标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031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计划实现效果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25237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关键成效与量化指标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031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功能架构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94960" y="25237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 Pipeline 全景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技术特点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双路检索 · RAG · LangGraph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175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175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9496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系统演示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9496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核心流程与界面概览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9319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9319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05840" y="40233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实施规划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05840" y="43525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六阶段交付计划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931920"/>
            <a:ext cx="41148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31920"/>
            <a:ext cx="73152" cy="74980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931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394960" y="40233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价值总结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394960" y="43525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数据治理新范式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项目背景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91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数据资产治理现状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719072"/>
            <a:ext cx="164592" cy="16459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企业已通过 OpenMetadata 平台纳管千级数据表、万级字段资产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221992"/>
            <a:ext cx="164592" cy="16459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元数据覆盖率仅 30%–60%，大量表/字段缺少中文名、业务描述和标签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724912"/>
            <a:ext cx="164592" cy="16459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人工补全效率低下，治理周期长，且标准参差不齐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227832"/>
            <a:ext cx="164592" cy="16459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数据开发、分析人员难以快速理解字段含义，影响数据复用效率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051560"/>
            <a:ext cx="28346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0515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30%~60%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21792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当前元数据覆盖率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2057400"/>
            <a:ext cx="28346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35040" y="2057400"/>
            <a:ext cx="73152" cy="86868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B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千级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2179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已纳管数据表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35040" y="3063240"/>
            <a:ext cx="28346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35040" y="3063240"/>
            <a:ext cx="73152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万级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1792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已纳管字段数量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79392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96112" y="4206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痛点驱动建设：亟需构建 AI 驱动的智能元数据补全系统，提升数据资产质量与治理效率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项目目标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91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54480" cy="3200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554480" cy="82296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640080" cy="640080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353312"/>
            <a:ext cx="402336" cy="4023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27048" y="1115568"/>
            <a:ext cx="292608" cy="292608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27048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智能补全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768" y="246888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给定表/字段，自动生成中文名、业务描述、标签等缺失元数据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093976" y="1005840"/>
            <a:ext cx="1554480" cy="3200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93976" y="1005840"/>
            <a:ext cx="155448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1176" y="12344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353312"/>
            <a:ext cx="402336" cy="4023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300984" y="1115568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00984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18541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2203704" y="246888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多维度质量校验 + 置信度评估 + 人工审核，补全准确率 ≥ 90%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867912" y="1005840"/>
            <a:ext cx="1554480" cy="3200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867912" y="1005840"/>
            <a:ext cx="1554480" cy="82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5112" y="12344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53312"/>
            <a:ext cx="402336" cy="40233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074920" y="1115568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7492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95935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高效审核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3977640" y="246888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高置信度自动采纳，低置信度人工审核，支持批量操作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641848" y="1005840"/>
            <a:ext cx="1554480" cy="3200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641848" y="1005840"/>
            <a:ext cx="15544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099048" y="12344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53312"/>
            <a:ext cx="402336" cy="40233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848856" y="11155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84885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73328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双向同步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751576" y="246888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审核确认后自动回写 OpenMetadata，保持系统数据一致性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415784" y="1005840"/>
            <a:ext cx="1554480" cy="3200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415784" y="1005840"/>
            <a:ext cx="155448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872984" y="12344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1353312"/>
            <a:ext cx="402336" cy="402336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8622792" y="111556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622792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750722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7525512" y="246888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架构预留扩展点，支持分类分级、智能搜索等后续场景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计划实现效果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90%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元数据补全准确率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18872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789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10s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单次智能补全响应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2011680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789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批量补全/分钟(实体)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1005840"/>
            <a:ext cx="201168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0789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500ms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搜索响应时间 P95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274320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2743200" cy="73152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42032"/>
            <a:ext cx="457200" cy="457200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642616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24128" y="2560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覆盖率大幅提升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" y="3200400"/>
            <a:ext cx="118872" cy="11887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314553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当前覆盖率 30%–60%，系统上线后目标达 90%+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" y="3703320"/>
            <a:ext cx="118872" cy="11887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64845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千级表、万级字段元数据系统化补全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5488" y="4206240"/>
            <a:ext cx="118872" cy="11887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415137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支持定时自动扫描，持续提升覆盖质量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18688" y="2377440"/>
            <a:ext cx="274320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18688" y="237744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83280" y="254203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642616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968496" y="2560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治理效率显著提升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419856" y="320040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21024" y="314553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高置信度结果自动采纳，无需人工干预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3419856" y="37033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621024" y="364845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批量操作支持 20+ 实体/分钟处理吞吐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3419856" y="4206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621024" y="415137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OpenMetadata 双向同步，数据始终一致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6163056" y="2377440"/>
            <a:ext cx="274320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163056" y="237744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27648" y="254203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642616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912864" y="2560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质量保障体系完善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6364224" y="32004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65392" y="314553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类规则引擎 + 置信度动态修正机制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6364224" y="37033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65392" y="364845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冲突检测保障新旧元数据一致性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6364224" y="42062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565392" y="415137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完整审计日志，全流程可追溯可复查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功能架构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178308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1783080" cy="82296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" y="1234440"/>
            <a:ext cx="621792" cy="621792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" y="19842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双路检索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2377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向量检索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关键词检索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融合 Top 15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75688" y="2057400"/>
            <a:ext cx="310896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1051560"/>
            <a:ext cx="178308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1051560"/>
            <a:ext cx="178308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3804" y="1234440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3804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96312" y="19842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2377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百炼平台模型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qwen-plus / deepseek-v3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管理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42816" y="2057400"/>
            <a:ext cx="310896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1051560"/>
            <a:ext cx="178308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051560"/>
            <a:ext cx="178308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0932" y="123444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0932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19842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质量校验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1728" y="2377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置信度修正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规则引擎（7类）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冲突检测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9944" y="2057400"/>
            <a:ext cx="310896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57416" y="1051560"/>
            <a:ext cx="178308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57416" y="1051560"/>
            <a:ext cx="17830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38060" y="1234440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8060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0568" y="19842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审核回写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48856" y="2377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智能分流路由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审核工作台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双向同步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核心模块组成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3611880"/>
            <a:ext cx="1371600" cy="45720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元数据搜索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3611880"/>
            <a:ext cx="13716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智能补全触发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0" y="3611880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审核工作台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611880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历史记录管理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611880"/>
            <a:ext cx="13716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同步任务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89520" y="3611880"/>
            <a:ext cx="1371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技术栈：FastAPI · LangGraph · Vue 3 · Milvus · Elasticsearch · Celery · Redis · PostgreSQL · 阿里云百炼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技术特点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2120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88720"/>
            <a:ext cx="475488" cy="475488"/>
          </a:xfrm>
          <a:prstGeom prst="ellipse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0759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双路混合检索 (RAG)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353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向量语义检索 + Elasticsearch 关键词检索并行执行，RRF 算法融合排序，兼顾语义理解与精确匹配，检索召回更全面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2011680"/>
            <a:ext cx="52120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011680"/>
            <a:ext cx="73152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" y="219456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31343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2066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状态编排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51560" y="2359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 Pipeline 以 LangGraph 状态图驱动，各 Stage 独立解耦、可单独测试和替换，支持异常降级和状态追踪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3017520"/>
            <a:ext cx="52120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30175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3200400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319272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072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多维质量校验体系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51560" y="3364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置信度自评 + 客观因子修正 + 7 类规则引擎 + 冲突检测，多层质量保障确保补全结果可信可用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74320" y="4023360"/>
            <a:ext cx="52120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40233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8912" y="42062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32511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4078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智能分流 &amp; 自动采纳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051560" y="4370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基于置信度阈值自动路由：≥0.8 高质量直接回写，0.6~0.8 进入审核队列，&lt;0.6 拒绝告警，大幅减少人工审核工作量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715000" y="1005840"/>
            <a:ext cx="31546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879592" y="1060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异常降级保障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879592" y="13441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Milvus/ES 任一不可用时自动回退单路检索，OM 回写失败自动重试3次，系统健壮性高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715000" y="2011680"/>
            <a:ext cx="31546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5879592" y="2066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模型灵活路由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5879592" y="23500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qwen-plus 为主力模型，deepseek-v3 为备选；可按场景配置路由策略，新增模型仅需注册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715000" y="3017520"/>
            <a:ext cx="31546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5879592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全量/增量同步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5879592" y="3355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定时 Job 每15分钟增量同步，每日凌晨全量重建，索引与 OM 数据始终保持一致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715000" y="4023360"/>
            <a:ext cx="315468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5879592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安全与审计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5879592" y="4361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认证、密钥环境变量注入、完整审计日志、CORS 白名单，生产级安全保障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核心流程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91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115568" cy="65836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用户搜索元数据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81328" y="1097280"/>
            <a:ext cx="1115568" cy="658368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92808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2808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选中实体触发补全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96896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88336" y="1097280"/>
            <a:ext cx="111556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99816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双路检索 Top15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03904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95344" y="1097280"/>
            <a:ext cx="111556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06824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50208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生成建议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10912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02352" y="1097280"/>
            <a:ext cx="111556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13832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57216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质量校验分流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1097280"/>
            <a:ext cx="111556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0840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64224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 / 自动采纳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24928" y="1261872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16368" y="1097280"/>
            <a:ext cx="111556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27848" y="91440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27848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71232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回写 OpenMetadata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2029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补全结果分流路由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2423160"/>
            <a:ext cx="2816352" cy="2423160"/>
          </a:xfrm>
          <a:prstGeom prst="rect">
            <a:avLst/>
          </a:prstGeom>
          <a:solidFill>
            <a:srgbClr val="F0F4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423160"/>
            <a:ext cx="28163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496312"/>
            <a:ext cx="329184" cy="32918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2296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自动采纳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1148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1148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 ≥ 80%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CRITICAL/WARNING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1148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114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直接回写 OpenMetadata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246120" y="2423160"/>
            <a:ext cx="2816352" cy="2423160"/>
          </a:xfrm>
          <a:prstGeom prst="rect">
            <a:avLst/>
          </a:prstGeom>
          <a:solidFill>
            <a:srgbClr val="F0F4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246120" y="2423160"/>
            <a:ext cx="28163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96312"/>
            <a:ext cx="329184" cy="329184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379476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人工审核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338328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338328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 60%–80%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CRITICAL 规则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338328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33832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进入审核队列，人工确认/修改/拒绝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6217920" y="2423160"/>
            <a:ext cx="2816352" cy="2423160"/>
          </a:xfrm>
          <a:prstGeom prst="rect">
            <a:avLst/>
          </a:prstGeom>
          <a:solidFill>
            <a:srgbClr val="F0F4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6217920" y="2423160"/>
            <a:ext cx="28163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96312"/>
            <a:ext cx="329184" cy="329184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76656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自动拒绝</a:t>
            </a:r>
            <a:endParaRPr lang="en-US" sz="1500" dirty="0"/>
          </a:p>
        </p:txBody>
      </p:sp>
      <p:sp>
        <p:nvSpPr>
          <p:cNvPr id="61" name="Text 56"/>
          <p:cNvSpPr/>
          <p:nvPr/>
        </p:nvSpPr>
        <p:spPr>
          <a:xfrm>
            <a:off x="635508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62" name="Text 57"/>
          <p:cNvSpPr/>
          <p:nvPr/>
        </p:nvSpPr>
        <p:spPr>
          <a:xfrm>
            <a:off x="635508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 &lt; 60%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或有 CRITICAL 规则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635508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64" name="Text 59"/>
          <p:cNvSpPr/>
          <p:nvPr/>
        </p:nvSpPr>
        <p:spPr>
          <a:xfrm>
            <a:off x="63550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记录拒绝原因，可选通知治理人员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实施规划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103120"/>
            <a:ext cx="841248" cy="36576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04288"/>
            <a:ext cx="182880" cy="182880"/>
          </a:xfrm>
          <a:prstGeom prst="ellipse">
            <a:avLst/>
          </a:prstGeom>
          <a:solidFill>
            <a:srgbClr val="0D5B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2606040"/>
            <a:ext cx="8412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2606040"/>
            <a:ext cx="841248" cy="54864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6974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5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9260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项目脚手架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31729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基础设施搭建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1031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08176" y="2103120"/>
            <a:ext cx="841248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304288"/>
            <a:ext cx="182880" cy="1828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8176" y="3200400"/>
            <a:ext cx="8412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3200400"/>
            <a:ext cx="84124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6464" y="32918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26464" y="35204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后端核心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26464" y="3767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配置、数据库、服务层封装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08176" y="21031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22576" y="2103120"/>
            <a:ext cx="1755648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304288"/>
            <a:ext cx="182880" cy="18288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2576" y="2606040"/>
            <a:ext cx="17556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22576" y="2606040"/>
            <a:ext cx="175564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40864" y="26974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40864" y="29260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Pipeline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40864" y="31729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1–3 补全链路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22576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51376" y="2103120"/>
            <a:ext cx="175564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2304288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51376" y="3200400"/>
            <a:ext cx="17556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51376" y="3200400"/>
            <a:ext cx="17556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9664" y="32918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69664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 &amp; API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9664" y="37673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+ 审核工作台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51376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0176" y="2103120"/>
            <a:ext cx="175564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2304288"/>
            <a:ext cx="182880" cy="182880"/>
          </a:xfrm>
          <a:prstGeom prst="ellipse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0176" y="2606040"/>
            <a:ext cx="17556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0176" y="2606040"/>
            <a:ext cx="175564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26974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98464" y="29260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98464" y="31729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搜索、审核、历史页面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80176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8976" y="2103120"/>
            <a:ext cx="841248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2304288"/>
            <a:ext cx="182880" cy="18288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08976" y="3200400"/>
            <a:ext cx="841248" cy="914400"/>
          </a:xfrm>
          <a:prstGeom prst="rect">
            <a:avLst/>
          </a:prstGeom>
          <a:solidFill>
            <a:srgbClr val="F0F4F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3200400"/>
            <a:ext cx="84124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27264" y="32918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27264" y="35204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联调部署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27264" y="3767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Job + 验收上线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808976" y="21031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总计 9 周完成全部交付   |   分阶段迭代，每阶段可独立验收   |   Phase 3 为核心里程碑节点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六阶段交付计划（总计 9 周）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4320" y="1371600"/>
            <a:ext cx="8595360" cy="56692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78308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服务层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20040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核心链路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61772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审核系统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03504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4523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828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8229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304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312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4630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312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4360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6384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210312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6304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0312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2336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4360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2376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6384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3920" y="27432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288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296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6304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0312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336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0352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4360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376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6384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0" y="33832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288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296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6304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0312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4320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2336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6344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0352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4360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58368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2376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86384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03920" y="40233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8288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6304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0312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2336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6344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0352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4360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8368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2376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6384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03920" y="46634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576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价值总结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36576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构建企业数据治理新范式</a:t>
            </a:r>
            <a:endParaRPr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365760" y="1600200"/>
            <a:ext cx="201168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5760" y="160020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5488" y="17190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降本增效</a:t>
            </a:r>
            <a:endParaRPr lang="en-US" sz="1500" dirty="0"/>
          </a:p>
        </p:txBody>
      </p:sp>
      <p:sp>
        <p:nvSpPr>
          <p:cNvPr id="120" name="Text 118"/>
          <p:cNvSpPr/>
          <p:nvPr/>
        </p:nvSpPr>
        <p:spPr>
          <a:xfrm>
            <a:off x="475488" y="2176272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自动补全替代人工，治理效率提升 3–5 倍，覆盖率从 60% 升至 90%+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542032" y="1600200"/>
            <a:ext cx="201168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542032" y="160020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51760" y="17190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质量可信</a:t>
            </a:r>
            <a:endParaRPr lang="en-US" sz="1500" dirty="0"/>
          </a:p>
        </p:txBody>
      </p:sp>
      <p:sp>
        <p:nvSpPr>
          <p:cNvPr id="124" name="Text 122"/>
          <p:cNvSpPr/>
          <p:nvPr/>
        </p:nvSpPr>
        <p:spPr>
          <a:xfrm>
            <a:off x="2651760" y="2176272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多层质量校验 + 置信度评估，确保补全结果可审可追溯，准确率 ≥ 90%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4718304" y="1600200"/>
            <a:ext cx="201168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18304" y="160020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828032" y="17190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开放扩展</a:t>
            </a:r>
            <a:endParaRPr lang="en-US" sz="1500" dirty="0"/>
          </a:p>
        </p:txBody>
      </p:sp>
      <p:sp>
        <p:nvSpPr>
          <p:cNvPr id="128" name="Text 126"/>
          <p:cNvSpPr/>
          <p:nvPr/>
        </p:nvSpPr>
        <p:spPr>
          <a:xfrm>
            <a:off x="4828032" y="2176272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预留分类分级、智能搜索、知识图谱扩展点，持续演进无需重构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6894576" y="1600200"/>
            <a:ext cx="201168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894576" y="160020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004304" y="17190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生产就绪</a:t>
            </a:r>
            <a:endParaRPr lang="en-US" sz="1500" dirty="0"/>
          </a:p>
        </p:txBody>
      </p:sp>
      <p:sp>
        <p:nvSpPr>
          <p:cNvPr id="132" name="Text 130"/>
          <p:cNvSpPr/>
          <p:nvPr/>
        </p:nvSpPr>
        <p:spPr>
          <a:xfrm>
            <a:off x="7004304" y="2176272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安全认证、完整审计日志、异常降级、高可用设计，满足企业级要求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0D5BD1"/>
          </a:solidFill>
          <a:ln w="12700">
            <a:solidFill>
              <a:srgbClr val="0D5BD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「以 AI 之力，驱动元数据治理自动化，让数据资产真正发挥价值」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数据治理智能元数据补全系统</dc:title>
  <dc:subject>PptxGenJS Presentation</dc:subject>
  <dc:creator>数据治理团队</dc:creator>
  <cp:lastModifiedBy>数据治理团队</cp:lastModifiedBy>
  <cp:revision>1</cp:revision>
  <dcterms:created xsi:type="dcterms:W3CDTF">2026-05-16T13:01:56Z</dcterms:created>
  <dcterms:modified xsi:type="dcterms:W3CDTF">2026-05-16T13:01:56Z</dcterms:modified>
</cp:coreProperties>
</file>